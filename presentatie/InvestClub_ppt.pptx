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</p:sldMasterIdLst>
  <p:sldIdLst>
    <p:sldId id="256" r:id="rId2"/>
    <p:sldId id="271" r:id="rId3"/>
    <p:sldId id="257" r:id="rId4"/>
    <p:sldId id="259" r:id="rId5"/>
    <p:sldId id="261" r:id="rId6"/>
    <p:sldId id="267" r:id="rId7"/>
    <p:sldId id="260" r:id="rId8"/>
    <p:sldId id="266" r:id="rId9"/>
    <p:sldId id="269" r:id="rId10"/>
    <p:sldId id="270" r:id="rId11"/>
    <p:sldId id="262" r:id="rId12"/>
    <p:sldId id="268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8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984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93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67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4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74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3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43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9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9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9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1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127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94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5962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99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74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4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7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6220" y="1865872"/>
            <a:ext cx="5826719" cy="1646302"/>
          </a:xfrm>
        </p:spPr>
        <p:txBody>
          <a:bodyPr/>
          <a:lstStyle/>
          <a:p>
            <a:r>
              <a:rPr dirty="0" err="1"/>
              <a:t>InvestClub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6220" y="3620528"/>
            <a:ext cx="5826719" cy="1096899"/>
          </a:xfrm>
        </p:spPr>
        <p:txBody>
          <a:bodyPr>
            <a:normAutofit lnSpcReduction="10000"/>
          </a:bodyPr>
          <a:lstStyle/>
          <a:p>
            <a:r>
              <a:rPr dirty="0" err="1">
                <a:solidFill>
                  <a:schemeClr val="tx1"/>
                </a:solidFill>
              </a:rPr>
              <a:t>Webapplicatie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voor</a:t>
            </a:r>
            <a:r>
              <a:rPr dirty="0">
                <a:solidFill>
                  <a:schemeClr val="tx1"/>
                </a:solidFill>
              </a:rPr>
              <a:t> het </a:t>
            </a:r>
            <a:r>
              <a:rPr dirty="0" err="1">
                <a:solidFill>
                  <a:schemeClr val="tx1"/>
                </a:solidFill>
              </a:rPr>
              <a:t>beheer</a:t>
            </a:r>
            <a:r>
              <a:rPr dirty="0">
                <a:solidFill>
                  <a:schemeClr val="tx1"/>
                </a:solidFill>
              </a:rPr>
              <a:t> van </a:t>
            </a:r>
            <a:r>
              <a:rPr lang="en-US" dirty="0" err="1">
                <a:solidFill>
                  <a:schemeClr val="tx1"/>
                </a:solidFill>
              </a:rPr>
              <a:t>beleggingsclubs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Project </a:t>
            </a:r>
            <a:r>
              <a:rPr lang="en-US" dirty="0">
                <a:solidFill>
                  <a:schemeClr val="tx1"/>
                </a:solidFill>
              </a:rPr>
              <a:t>A&amp;D / </a:t>
            </a:r>
            <a:r>
              <a:rPr lang="en-US" dirty="0" err="1">
                <a:solidFill>
                  <a:schemeClr val="tx1"/>
                </a:solidFill>
              </a:rPr>
              <a:t>Databasesystemen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3e Bachelor </a:t>
            </a:r>
            <a:r>
              <a:rPr dirty="0" err="1">
                <a:solidFill>
                  <a:schemeClr val="tx1"/>
                </a:solidFill>
              </a:rPr>
              <a:t>Handelsingenieur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2D340-6197-6172-36A6-4A56B03AFBD0}"/>
              </a:ext>
            </a:extLst>
          </p:cNvPr>
          <p:cNvSpPr txBox="1"/>
          <p:nvPr/>
        </p:nvSpPr>
        <p:spPr>
          <a:xfrm>
            <a:off x="4308243" y="6283787"/>
            <a:ext cx="5298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Jinte Van </a:t>
            </a:r>
            <a:r>
              <a:rPr lang="en-US" sz="1400" dirty="0" err="1"/>
              <a:t>Liedekerke</a:t>
            </a:r>
            <a:r>
              <a:rPr lang="en-US" sz="1400" dirty="0"/>
              <a:t>, Florence </a:t>
            </a:r>
            <a:r>
              <a:rPr lang="en-US" sz="1400" dirty="0" err="1"/>
              <a:t>Gheysen</a:t>
            </a:r>
            <a:r>
              <a:rPr lang="en-US" sz="1400" dirty="0"/>
              <a:t>, Bastien De Meyer, Joran Van </a:t>
            </a:r>
            <a:r>
              <a:rPr lang="en-US" sz="1400" dirty="0" err="1"/>
              <a:t>Bockhaven</a:t>
            </a:r>
            <a:r>
              <a:rPr lang="en-US" sz="1400" dirty="0"/>
              <a:t>, Antoon Hendrickx</a:t>
            </a:r>
            <a:endParaRPr lang="en-BE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26621-AE1D-E863-4906-D2B4DE62C22B}"/>
              </a:ext>
            </a:extLst>
          </p:cNvPr>
          <p:cNvSpPr txBox="1"/>
          <p:nvPr/>
        </p:nvSpPr>
        <p:spPr>
          <a:xfrm>
            <a:off x="7906870" y="7442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Groep 16</a:t>
            </a:r>
            <a:endParaRPr lang="en-B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4099-59D7-91BD-EC47-5237CA2A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1080000"/>
            <a:ext cx="6347713" cy="1320800"/>
          </a:xfrm>
        </p:spPr>
        <p:txBody>
          <a:bodyPr/>
          <a:lstStyle/>
          <a:p>
            <a:r>
              <a:rPr lang="en-US" dirty="0"/>
              <a:t>Externe partner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1224E-CE2D-C57D-6271-33EEEC02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070000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Danny Van </a:t>
            </a:r>
            <a:r>
              <a:rPr lang="en-US" b="1" dirty="0" err="1"/>
              <a:t>Liedekerke</a:t>
            </a:r>
            <a:endParaRPr lang="en-US" b="1" dirty="0"/>
          </a:p>
          <a:p>
            <a:pPr lvl="1"/>
            <a:r>
              <a:rPr lang="en-US" dirty="0" err="1"/>
              <a:t>Investopia</a:t>
            </a:r>
            <a:endParaRPr lang="en-US" dirty="0"/>
          </a:p>
          <a:p>
            <a:pPr lvl="2"/>
            <a:r>
              <a:rPr lang="en-US" dirty="0"/>
              <a:t>1998</a:t>
            </a:r>
          </a:p>
          <a:p>
            <a:pPr lvl="2"/>
            <a:r>
              <a:rPr lang="en-US" dirty="0"/>
              <a:t>12 </a:t>
            </a:r>
            <a:r>
              <a:rPr lang="en-US" dirty="0" err="1"/>
              <a:t>leden</a:t>
            </a:r>
            <a:endParaRPr lang="en-US" dirty="0"/>
          </a:p>
          <a:p>
            <a:pPr lvl="2"/>
            <a:r>
              <a:rPr lang="en-US" dirty="0" err="1"/>
              <a:t>Leerschool</a:t>
            </a:r>
            <a:endParaRPr lang="en-US" dirty="0"/>
          </a:p>
          <a:p>
            <a:pPr lvl="3"/>
            <a:r>
              <a:rPr lang="en-US" dirty="0"/>
              <a:t>‘</a:t>
            </a:r>
            <a:r>
              <a:rPr lang="en-US" dirty="0" err="1"/>
              <a:t>Risicoloos</a:t>
            </a:r>
            <a:r>
              <a:rPr lang="en-US" dirty="0"/>
              <a:t>’</a:t>
            </a:r>
          </a:p>
          <a:p>
            <a:pPr lvl="3"/>
            <a:r>
              <a:rPr lang="en-US" dirty="0" err="1"/>
              <a:t>Optie</a:t>
            </a:r>
            <a:r>
              <a:rPr lang="en-US" dirty="0"/>
              <a:t>/Short </a:t>
            </a:r>
            <a:r>
              <a:rPr lang="en-US" dirty="0" err="1"/>
              <a:t>positie</a:t>
            </a:r>
            <a:r>
              <a:rPr lang="en-US" dirty="0"/>
              <a:t> </a:t>
            </a:r>
            <a:r>
              <a:rPr lang="en-US" dirty="0" err="1"/>
              <a:t>nemen</a:t>
            </a:r>
            <a:endParaRPr lang="en-US" dirty="0"/>
          </a:p>
          <a:p>
            <a:pPr lvl="1"/>
            <a:r>
              <a:rPr lang="en-US" dirty="0" err="1"/>
              <a:t>Vlaamse</a:t>
            </a:r>
            <a:r>
              <a:rPr lang="en-US" dirty="0"/>
              <a:t> </a:t>
            </a:r>
            <a:r>
              <a:rPr lang="en-US" dirty="0" err="1"/>
              <a:t>Federatie</a:t>
            </a:r>
            <a:r>
              <a:rPr lang="en-US" dirty="0"/>
              <a:t> Van </a:t>
            </a:r>
            <a:r>
              <a:rPr lang="en-US" dirty="0" err="1"/>
              <a:t>Beleggers</a:t>
            </a:r>
            <a:endParaRPr lang="en-US" dirty="0"/>
          </a:p>
          <a:p>
            <a:pPr lvl="2"/>
            <a:r>
              <a:rPr lang="en-US" dirty="0" err="1"/>
              <a:t>Bestuurslid</a:t>
            </a:r>
            <a:endParaRPr lang="en-US" dirty="0"/>
          </a:p>
          <a:p>
            <a:pPr lvl="2"/>
            <a:r>
              <a:rPr lang="en-US" dirty="0" err="1"/>
              <a:t>Functie</a:t>
            </a:r>
            <a:r>
              <a:rPr lang="en-US" dirty="0"/>
              <a:t>: </a:t>
            </a:r>
            <a:r>
              <a:rPr lang="en-US" dirty="0" err="1"/>
              <a:t>Verantwoordelijke</a:t>
            </a:r>
            <a:r>
              <a:rPr lang="en-US" dirty="0"/>
              <a:t> ‘</a:t>
            </a:r>
            <a:r>
              <a:rPr lang="en-US" dirty="0" err="1"/>
              <a:t>oprichten</a:t>
            </a:r>
            <a:r>
              <a:rPr lang="en-US" dirty="0"/>
              <a:t> van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beleggingsclubs</a:t>
            </a:r>
            <a:r>
              <a:rPr lang="en-US" dirty="0"/>
              <a:t>’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373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000" y="1078329"/>
            <a:ext cx="6571343" cy="900000"/>
          </a:xfrm>
        </p:spPr>
        <p:txBody>
          <a:bodyPr/>
          <a:lstStyle/>
          <a:p>
            <a:r>
              <a:rPr lang="en-US" dirty="0" err="1"/>
              <a:t>Veelvoorkomend</a:t>
            </a:r>
            <a:r>
              <a:rPr lang="en-US" dirty="0"/>
              <a:t> </a:t>
            </a:r>
            <a:r>
              <a:rPr lang="en-US" dirty="0" err="1"/>
              <a:t>probleem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00" y="2070000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Beleggingsclubs</a:t>
            </a:r>
            <a:r>
              <a:rPr b="1" dirty="0"/>
              <a:t> </a:t>
            </a:r>
            <a:r>
              <a:rPr b="1" dirty="0" err="1"/>
              <a:t>werken</a:t>
            </a:r>
            <a:r>
              <a:rPr b="1" dirty="0"/>
              <a:t> met Excel-</a:t>
            </a:r>
            <a:r>
              <a:rPr b="1" dirty="0" err="1"/>
              <a:t>bestanden</a:t>
            </a:r>
            <a:endParaRPr b="1" dirty="0"/>
          </a:p>
          <a:p>
            <a:pPr lvl="1"/>
            <a:r>
              <a:rPr lang="en-US" dirty="0"/>
              <a:t>Chaos</a:t>
            </a:r>
            <a:endParaRPr dirty="0"/>
          </a:p>
          <a:p>
            <a:pPr lvl="1"/>
            <a:r>
              <a:rPr lang="en-US" dirty="0" err="1"/>
              <a:t>T</a:t>
            </a:r>
            <a:r>
              <a:rPr dirty="0" err="1"/>
              <a:t>ijdverlies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Geen </a:t>
            </a:r>
            <a:r>
              <a:rPr lang="en-US" dirty="0" err="1"/>
              <a:t>helder</a:t>
            </a:r>
            <a:r>
              <a:rPr lang="en-US" dirty="0"/>
              <a:t> </a:t>
            </a:r>
            <a:r>
              <a:rPr lang="en-US" dirty="0" err="1"/>
              <a:t>overzicht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C84B55-1AA6-91DB-60F7-D7C398A8E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537" y="3579223"/>
            <a:ext cx="6224451" cy="319642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000" y="900000"/>
            <a:ext cx="4580950" cy="1506445"/>
          </a:xfrm>
        </p:spPr>
        <p:txBody>
          <a:bodyPr/>
          <a:lstStyle/>
          <a:p>
            <a:r>
              <a:rPr dirty="0" err="1"/>
              <a:t>Onze</a:t>
            </a:r>
            <a:r>
              <a:rPr dirty="0"/>
              <a:t> </a:t>
            </a:r>
            <a:r>
              <a:rPr dirty="0" err="1"/>
              <a:t>oplossing</a:t>
            </a:r>
            <a:r>
              <a:rPr lang="en-US" dirty="0"/>
              <a:t>: </a:t>
            </a:r>
            <a:r>
              <a:rPr lang="en-US" b="1" i="1" dirty="0" err="1"/>
              <a:t>InvestClub</a:t>
            </a:r>
            <a:endParaRPr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00" y="2070000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nl-NL" b="1" dirty="0"/>
              <a:t>Eén centrale applicatie voor beleggingsclubs</a:t>
            </a:r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dirty="0" err="1"/>
              <a:t>Automatische</a:t>
            </a:r>
            <a:r>
              <a:rPr dirty="0"/>
              <a:t> </a:t>
            </a:r>
            <a:r>
              <a:rPr dirty="0" err="1"/>
              <a:t>berekeningen</a:t>
            </a:r>
            <a:endParaRPr dirty="0"/>
          </a:p>
          <a:p>
            <a:pPr lvl="1"/>
            <a:r>
              <a:rPr lang="en-US" dirty="0" err="1"/>
              <a:t>Portefeuille</a:t>
            </a:r>
            <a:r>
              <a:rPr lang="en-US" dirty="0"/>
              <a:t>-, cash- &amp; </a:t>
            </a:r>
            <a:r>
              <a:rPr lang="en-US" dirty="0" err="1"/>
              <a:t>groepsbeheer</a:t>
            </a:r>
            <a:endParaRPr dirty="0"/>
          </a:p>
          <a:p>
            <a:pPr lvl="1"/>
            <a:r>
              <a:rPr dirty="0" err="1"/>
              <a:t>Toegankelijk</a:t>
            </a:r>
            <a:r>
              <a:rPr dirty="0"/>
              <a:t> op</a:t>
            </a:r>
            <a:r>
              <a:rPr lang="en-US" dirty="0"/>
              <a:t> </a:t>
            </a:r>
            <a:r>
              <a:rPr lang="en-US" dirty="0" err="1"/>
              <a:t>zowel</a:t>
            </a:r>
            <a:r>
              <a:rPr dirty="0"/>
              <a:t> desktop </a:t>
            </a:r>
            <a:r>
              <a:rPr lang="en-US" dirty="0" err="1"/>
              <a:t>als</a:t>
            </a:r>
            <a:r>
              <a:rPr dirty="0"/>
              <a:t> </a:t>
            </a:r>
            <a:r>
              <a:rPr dirty="0" err="1"/>
              <a:t>mobiel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000" y="1080000"/>
            <a:ext cx="6571343" cy="1049235"/>
          </a:xfrm>
        </p:spPr>
        <p:txBody>
          <a:bodyPr/>
          <a:lstStyle/>
          <a:p>
            <a:r>
              <a:rPr lang="en-US" dirty="0" err="1"/>
              <a:t>Waarom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bestaande</a:t>
            </a:r>
            <a:r>
              <a:rPr lang="en-US" dirty="0"/>
              <a:t> apps?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00" y="4050936"/>
            <a:ext cx="3897087" cy="3546566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Trading apps (</a:t>
            </a:r>
            <a:r>
              <a:rPr lang="en-US" sz="1800" b="1" dirty="0" err="1"/>
              <a:t>Degiro</a:t>
            </a:r>
            <a:r>
              <a:rPr lang="en-US" sz="1800" b="1" dirty="0"/>
              <a:t>, </a:t>
            </a:r>
            <a:r>
              <a:rPr lang="en-US" sz="1800" b="1" dirty="0" err="1"/>
              <a:t>eToro</a:t>
            </a:r>
            <a:r>
              <a:rPr lang="en-US" sz="1800" b="1" dirty="0"/>
              <a:t>)</a:t>
            </a:r>
          </a:p>
          <a:p>
            <a:pPr lvl="1"/>
            <a:r>
              <a:rPr lang="en-US" dirty="0" err="1"/>
              <a:t>Individueel</a:t>
            </a:r>
            <a:r>
              <a:rPr lang="en-US" dirty="0"/>
              <a:t> </a:t>
            </a:r>
            <a:r>
              <a:rPr lang="en-US" dirty="0" err="1"/>
              <a:t>gebruik</a:t>
            </a:r>
            <a:endParaRPr lang="en-US" dirty="0"/>
          </a:p>
          <a:p>
            <a:pPr lvl="1"/>
            <a:r>
              <a:rPr lang="en-US" dirty="0"/>
              <a:t>Geen </a:t>
            </a:r>
            <a:r>
              <a:rPr lang="en-US" dirty="0" err="1"/>
              <a:t>groepsbeheer</a:t>
            </a:r>
            <a:endParaRPr lang="en-US" dirty="0"/>
          </a:p>
          <a:p>
            <a:pPr lvl="1"/>
            <a:r>
              <a:rPr lang="en-US" dirty="0"/>
              <a:t>Geen </a:t>
            </a:r>
            <a:r>
              <a:rPr lang="en-US" dirty="0" err="1"/>
              <a:t>instap</a:t>
            </a:r>
            <a:r>
              <a:rPr lang="en-US" dirty="0"/>
              <a:t>-/</a:t>
            </a:r>
            <a:r>
              <a:rPr lang="en-US" dirty="0" err="1"/>
              <a:t>uitstaplogica</a:t>
            </a:r>
            <a:endParaRPr lang="en-US" dirty="0"/>
          </a:p>
          <a:p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E389F-1E0D-B3C0-3E3D-EB0BC5FCA21A}"/>
              </a:ext>
            </a:extLst>
          </p:cNvPr>
          <p:cNvSpPr txBox="1"/>
          <p:nvPr/>
        </p:nvSpPr>
        <p:spPr>
          <a:xfrm>
            <a:off x="4356000" y="2070000"/>
            <a:ext cx="4271554" cy="2698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InvestClub</a:t>
            </a:r>
            <a:endParaRPr lang="en-US" b="1" i="1" dirty="0"/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Automatische berekeningen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Groepsgericht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AI-analyse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Specifiek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voor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beleggingsclubs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B963F-007D-4DBA-3365-9090319C7F68}"/>
              </a:ext>
            </a:extLst>
          </p:cNvPr>
          <p:cNvSpPr txBox="1"/>
          <p:nvPr/>
        </p:nvSpPr>
        <p:spPr>
          <a:xfrm>
            <a:off x="396000" y="2070000"/>
            <a:ext cx="2730235" cy="14927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Excel / Google Sheets: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nl-NL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Veel manueel werk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Foutgevoelig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Geen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realtime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data</a:t>
            </a:r>
            <a:endParaRPr lang="en-B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46B6A1-B674-5707-81A1-F36126B72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7719"/>
            <a:ext cx="9189720" cy="44402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0E3230-306D-5570-5B97-80508EDC0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120" y="0"/>
            <a:ext cx="4264594" cy="27182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2E852A-5F8B-6603-614B-B1D7C5A7CC5B}"/>
              </a:ext>
            </a:extLst>
          </p:cNvPr>
          <p:cNvSpPr txBox="1"/>
          <p:nvPr/>
        </p:nvSpPr>
        <p:spPr>
          <a:xfrm>
            <a:off x="0" y="653143"/>
            <a:ext cx="26746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Search-</a:t>
            </a:r>
            <a:r>
              <a:rPr lang="en-US" sz="2400" b="1" dirty="0" err="1"/>
              <a:t>algoritme</a:t>
            </a:r>
            <a:endParaRPr lang="en-US" sz="2400" b="1" dirty="0"/>
          </a:p>
          <a:p>
            <a:r>
              <a:rPr lang="en-US" sz="2400" b="1" dirty="0"/>
              <a:t>&amp; live </a:t>
            </a:r>
            <a:r>
              <a:rPr lang="en-US" sz="2400" b="1" dirty="0" err="1"/>
              <a:t>beursdata</a:t>
            </a:r>
            <a:endParaRPr lang="en-BE" sz="2400" b="1" dirty="0"/>
          </a:p>
        </p:txBody>
      </p:sp>
    </p:spTree>
    <p:extLst>
      <p:ext uri="{BB962C8B-B14F-4D97-AF65-F5344CB8AC3E}">
        <p14:creationId xmlns:p14="http://schemas.microsoft.com/office/powerpoint/2010/main" val="12334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289560"/>
            <a:ext cx="6347713" cy="1320800"/>
          </a:xfrm>
        </p:spPr>
        <p:txBody>
          <a:bodyPr/>
          <a:lstStyle/>
          <a:p>
            <a:endParaRPr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728039B2-45D5-D375-2916-77C5815B2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0057" y="3141617"/>
            <a:ext cx="7525162" cy="3650382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7EAC5B-6F5D-DA81-DD55-3478B54FD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1" y="130990"/>
            <a:ext cx="7245471" cy="30795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70D5E7-3940-CDFF-1B80-5D9D4922C804}"/>
              </a:ext>
            </a:extLst>
          </p:cNvPr>
          <p:cNvSpPr txBox="1"/>
          <p:nvPr/>
        </p:nvSpPr>
        <p:spPr>
          <a:xfrm>
            <a:off x="235131" y="4134394"/>
            <a:ext cx="1861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Diverse</a:t>
            </a:r>
          </a:p>
          <a:p>
            <a:r>
              <a:rPr lang="en-US" sz="2400" b="1" dirty="0" err="1"/>
              <a:t>functies</a:t>
            </a:r>
            <a:endParaRPr lang="en-BE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BA7A-ECC6-7242-F657-E0B9F5E5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C9BAAE6-EC0C-E6BB-F643-15E2C1FC7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1784" y="3116663"/>
            <a:ext cx="9215784" cy="3905794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F6D81A-2C14-B962-E420-93C00B0BB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283" y="-758740"/>
            <a:ext cx="9215784" cy="40488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0773BB-DB6E-07F9-9524-459725B09A32}"/>
              </a:ext>
            </a:extLst>
          </p:cNvPr>
          <p:cNvSpPr txBox="1"/>
          <p:nvPr/>
        </p:nvSpPr>
        <p:spPr>
          <a:xfrm>
            <a:off x="586068" y="1153805"/>
            <a:ext cx="3156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Verschillende</a:t>
            </a:r>
            <a:r>
              <a:rPr lang="en-US" sz="2400" b="1" dirty="0"/>
              <a:t> </a:t>
            </a:r>
            <a:r>
              <a:rPr lang="en-US" sz="2400" b="1" dirty="0" err="1"/>
              <a:t>rollen</a:t>
            </a:r>
            <a:r>
              <a:rPr lang="en-US" sz="2400" b="1" dirty="0"/>
              <a:t> per </a:t>
            </a:r>
            <a:r>
              <a:rPr lang="en-US" sz="2400" b="1" dirty="0" err="1"/>
              <a:t>groep</a:t>
            </a:r>
            <a:endParaRPr lang="en-BE" sz="2400" b="1" dirty="0"/>
          </a:p>
        </p:txBody>
      </p:sp>
    </p:spTree>
    <p:extLst>
      <p:ext uri="{BB962C8B-B14F-4D97-AF65-F5344CB8AC3E}">
        <p14:creationId xmlns:p14="http://schemas.microsoft.com/office/powerpoint/2010/main" val="265113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2A4158-BEF8-6120-7345-CC05615513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66" t="5374" r="23897"/>
          <a:stretch>
            <a:fillRect/>
          </a:stretch>
        </p:blipFill>
        <p:spPr>
          <a:xfrm>
            <a:off x="0" y="51628"/>
            <a:ext cx="3520440" cy="31485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6A3A17-0D83-6F91-FDB0-BAB60851E378}"/>
              </a:ext>
            </a:extLst>
          </p:cNvPr>
          <p:cNvSpPr txBox="1"/>
          <p:nvPr/>
        </p:nvSpPr>
        <p:spPr>
          <a:xfrm>
            <a:off x="5127172" y="400649"/>
            <a:ext cx="3442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AI-</a:t>
            </a:r>
            <a:r>
              <a:rPr lang="en-US" sz="2400" b="1" dirty="0" err="1"/>
              <a:t>analyse</a:t>
            </a:r>
            <a:r>
              <a:rPr lang="en-US" sz="2400" b="1" dirty="0"/>
              <a:t> per </a:t>
            </a:r>
            <a:r>
              <a:rPr lang="en-US" sz="2400" b="1" dirty="0" err="1"/>
              <a:t>aandeel</a:t>
            </a:r>
            <a:endParaRPr lang="en-US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0EAF2-E3B7-63E6-3F96-4F5F03F1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82" r="23905"/>
          <a:stretch>
            <a:fillRect/>
          </a:stretch>
        </p:blipFill>
        <p:spPr>
          <a:xfrm>
            <a:off x="1338944" y="3281253"/>
            <a:ext cx="3357154" cy="31485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D4A161-B0BD-810E-4B5A-65F34889AF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357" r="24071" b="4891"/>
          <a:stretch>
            <a:fillRect/>
          </a:stretch>
        </p:blipFill>
        <p:spPr>
          <a:xfrm>
            <a:off x="4859382" y="1558734"/>
            <a:ext cx="4056017" cy="363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59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1B17ED-8991-DEB7-7DDA-2550484D6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3758" t="7887" r="24069"/>
          <a:stretch>
            <a:fillRect/>
          </a:stretch>
        </p:blipFill>
        <p:spPr>
          <a:xfrm>
            <a:off x="99586" y="1853755"/>
            <a:ext cx="4330338" cy="378436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E9826C-2F0A-F175-518A-BE8C66C467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57" r="23857" b="-1192"/>
          <a:stretch>
            <a:fillRect/>
          </a:stretch>
        </p:blipFill>
        <p:spPr>
          <a:xfrm>
            <a:off x="4310743" y="-18488"/>
            <a:ext cx="3610229" cy="34474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ED2AC2-7235-8804-C803-9BB68BF06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00" t="-1869" r="23714" b="1109"/>
          <a:stretch>
            <a:fillRect/>
          </a:stretch>
        </p:blipFill>
        <p:spPr>
          <a:xfrm>
            <a:off x="5310091" y="3240040"/>
            <a:ext cx="3833909" cy="3617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E9A7FF-24EB-D868-1232-779BDC596775}"/>
              </a:ext>
            </a:extLst>
          </p:cNvPr>
          <p:cNvSpPr txBox="1"/>
          <p:nvPr/>
        </p:nvSpPr>
        <p:spPr>
          <a:xfrm>
            <a:off x="529091" y="619718"/>
            <a:ext cx="2703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AI-</a:t>
            </a:r>
            <a:r>
              <a:rPr lang="en-US" sz="2400" b="1" dirty="0" err="1"/>
              <a:t>analyse</a:t>
            </a:r>
            <a:r>
              <a:rPr lang="en-US" sz="2400" b="1" dirty="0"/>
              <a:t> </a:t>
            </a:r>
            <a:r>
              <a:rPr lang="en-US" sz="2400" b="1" dirty="0" err="1"/>
              <a:t>voor</a:t>
            </a:r>
            <a:r>
              <a:rPr lang="en-US" sz="2400" b="1" dirty="0"/>
              <a:t> de </a:t>
            </a:r>
            <a:r>
              <a:rPr lang="en-US" sz="2400" b="1" dirty="0" err="1"/>
              <a:t>volledige</a:t>
            </a:r>
            <a:r>
              <a:rPr lang="en-US" sz="2400" b="1" dirty="0"/>
              <a:t> </a:t>
            </a:r>
            <a:r>
              <a:rPr lang="en-US" sz="2400" b="1" dirty="0" err="1"/>
              <a:t>portefeuille</a:t>
            </a:r>
            <a:endParaRPr lang="en-BE" sz="2400" b="1" dirty="0"/>
          </a:p>
        </p:txBody>
      </p:sp>
    </p:spTree>
    <p:extLst>
      <p:ext uri="{BB962C8B-B14F-4D97-AF65-F5344CB8AC3E}">
        <p14:creationId xmlns:p14="http://schemas.microsoft.com/office/powerpoint/2010/main" val="1920918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7A8F41-3FA4-9614-9C9A-2EC6B2654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6348413" cy="37171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2BC20C-389B-7205-D143-9F39D17D3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102" y="2272937"/>
            <a:ext cx="6234305" cy="45850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56DF1C-90C4-9EEA-E037-8AACB21BCFD8}"/>
              </a:ext>
            </a:extLst>
          </p:cNvPr>
          <p:cNvSpPr txBox="1"/>
          <p:nvPr/>
        </p:nvSpPr>
        <p:spPr>
          <a:xfrm>
            <a:off x="421396" y="4199709"/>
            <a:ext cx="2256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Automatische</a:t>
            </a:r>
            <a:r>
              <a:rPr lang="en-US" sz="2400" b="1" dirty="0"/>
              <a:t> </a:t>
            </a:r>
            <a:r>
              <a:rPr lang="en-US" sz="2400" b="1" dirty="0" err="1"/>
              <a:t>calculaties</a:t>
            </a:r>
            <a:endParaRPr lang="en-BE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FE6259-73B7-4FB0-A80A-E09D70BDA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81683" cy="3309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381EC6-ED76-14B3-64BB-C79D7E8B8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41614"/>
            <a:ext cx="6634184" cy="2416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322571-7D86-BAC9-3198-3F435C3C8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683" y="1714500"/>
            <a:ext cx="4811106" cy="3285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24D881-2EDB-1450-2A78-1D02A768D5C6}"/>
              </a:ext>
            </a:extLst>
          </p:cNvPr>
          <p:cNvSpPr txBox="1"/>
          <p:nvPr/>
        </p:nvSpPr>
        <p:spPr>
          <a:xfrm>
            <a:off x="4865914" y="450669"/>
            <a:ext cx="3722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Gebruiksvriendelijk</a:t>
            </a:r>
            <a:r>
              <a:rPr lang="en-US" sz="2400" b="1" dirty="0"/>
              <a:t> </a:t>
            </a:r>
            <a:r>
              <a:rPr lang="en-US" sz="2400" b="1" dirty="0" err="1"/>
              <a:t>voor</a:t>
            </a:r>
            <a:endParaRPr lang="en-US" sz="2400" b="1" dirty="0"/>
          </a:p>
          <a:p>
            <a:r>
              <a:rPr lang="en-US" sz="2400" b="1" dirty="0" err="1"/>
              <a:t>Iphone</a:t>
            </a:r>
            <a:r>
              <a:rPr lang="en-US" sz="2400" b="1" dirty="0"/>
              <a:t> &amp; </a:t>
            </a:r>
            <a:r>
              <a:rPr lang="en-US" sz="2400" b="1" dirty="0" err="1"/>
              <a:t>Ipad</a:t>
            </a:r>
            <a:r>
              <a:rPr lang="en-US" sz="2400" b="1" dirty="0"/>
              <a:t> </a:t>
            </a:r>
            <a:endParaRPr lang="en-BE" sz="2400" b="1" dirty="0"/>
          </a:p>
        </p:txBody>
      </p:sp>
    </p:spTree>
    <p:extLst>
      <p:ext uri="{BB962C8B-B14F-4D97-AF65-F5344CB8AC3E}">
        <p14:creationId xmlns:p14="http://schemas.microsoft.com/office/powerpoint/2010/main" val="3526951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0B2FB0-02AC-4ED4-30BC-604D4ED78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75" y="0"/>
            <a:ext cx="8521926" cy="4652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0003B9-2AF9-4EAF-B3DC-F9A7C47EE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5674"/>
            <a:ext cx="5379723" cy="39223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AD3C31-B1C7-CA16-0466-550AB3FC94AB}"/>
              </a:ext>
            </a:extLst>
          </p:cNvPr>
          <p:cNvSpPr txBox="1"/>
          <p:nvPr/>
        </p:nvSpPr>
        <p:spPr>
          <a:xfrm>
            <a:off x="5656217" y="5231674"/>
            <a:ext cx="2589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ERD &amp; </a:t>
            </a:r>
            <a:r>
              <a:rPr lang="en-US" sz="2400" b="1" dirty="0" err="1"/>
              <a:t>Supabase</a:t>
            </a:r>
            <a:endParaRPr lang="en-BE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000" y="1080000"/>
            <a:ext cx="6347713" cy="1320800"/>
          </a:xfrm>
        </p:spPr>
        <p:txBody>
          <a:bodyPr/>
          <a:lstStyle/>
          <a:p>
            <a:r>
              <a:rPr dirty="0" err="1"/>
              <a:t>Sterktes</a:t>
            </a:r>
            <a:r>
              <a:rPr dirty="0"/>
              <a:t> </a:t>
            </a:r>
            <a:r>
              <a:rPr lang="en-US" dirty="0"/>
              <a:t>&amp;</a:t>
            </a:r>
            <a:r>
              <a:rPr dirty="0"/>
              <a:t> </a:t>
            </a:r>
            <a:r>
              <a:rPr dirty="0" err="1"/>
              <a:t>zwaktes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00" y="2070000"/>
            <a:ext cx="4308566" cy="3880773"/>
          </a:xfrm>
        </p:spPr>
        <p:txBody>
          <a:bodyPr/>
          <a:lstStyle/>
          <a:p>
            <a:pPr marL="0" indent="0">
              <a:buNone/>
            </a:pPr>
            <a:r>
              <a:rPr b="1" dirty="0" err="1"/>
              <a:t>Sterk</a:t>
            </a:r>
            <a:r>
              <a:rPr lang="en-US" b="1" dirty="0" err="1"/>
              <a:t>t</a:t>
            </a:r>
            <a:r>
              <a:rPr b="1" dirty="0" err="1"/>
              <a:t>e</a:t>
            </a:r>
            <a:r>
              <a:rPr lang="en-US" b="1" dirty="0" err="1"/>
              <a:t>s</a:t>
            </a:r>
            <a:endParaRPr lang="en-US" b="1" dirty="0"/>
          </a:p>
          <a:p>
            <a:pPr lvl="1"/>
            <a:r>
              <a:rPr lang="nl-NL" dirty="0"/>
              <a:t>Gebruiksvriendelijk</a:t>
            </a:r>
          </a:p>
          <a:p>
            <a:pPr lvl="1"/>
            <a:r>
              <a:rPr lang="nl-NL" dirty="0"/>
              <a:t>Sterke automatisatie</a:t>
            </a:r>
          </a:p>
          <a:p>
            <a:pPr lvl="1"/>
            <a:r>
              <a:rPr lang="nl-NL" dirty="0"/>
              <a:t>Realtime beursdata</a:t>
            </a:r>
          </a:p>
          <a:p>
            <a:pPr lvl="1"/>
            <a:r>
              <a:rPr lang="en-US" dirty="0"/>
              <a:t>AI </a:t>
            </a:r>
            <a:r>
              <a:rPr lang="en-US" dirty="0" err="1"/>
              <a:t>portofolio</a:t>
            </a:r>
            <a:r>
              <a:rPr lang="en-US" dirty="0"/>
              <a:t> </a:t>
            </a:r>
            <a:r>
              <a:rPr lang="en-US" dirty="0" err="1"/>
              <a:t>analyse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4A829-2B18-886C-05FF-127A29983F55}"/>
              </a:ext>
            </a:extLst>
          </p:cNvPr>
          <p:cNvSpPr txBox="1"/>
          <p:nvPr/>
        </p:nvSpPr>
        <p:spPr>
          <a:xfrm>
            <a:off x="4356000" y="2070000"/>
            <a:ext cx="3597460" cy="1800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Zwaktes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Prototype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nl-NL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Beperkte externe integraties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endParaRPr lang="en-B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000" y="1080000"/>
            <a:ext cx="6571343" cy="1049235"/>
          </a:xfrm>
        </p:spPr>
        <p:txBody>
          <a:bodyPr/>
          <a:lstStyle/>
          <a:p>
            <a:r>
              <a:rPr dirty="0" err="1"/>
              <a:t>Conclusie</a:t>
            </a:r>
            <a:r>
              <a:rPr dirty="0"/>
              <a:t> &amp; </a:t>
            </a:r>
            <a:r>
              <a:rPr dirty="0" err="1"/>
              <a:t>toekomstvisie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00" y="2070000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Conclusie</a:t>
            </a:r>
            <a:endParaRPr lang="en-US" b="1" dirty="0"/>
          </a:p>
          <a:p>
            <a:pPr lvl="1"/>
            <a:r>
              <a:rPr lang="nl-NL" dirty="0"/>
              <a:t>Investclub lost een concreet probleem op voor belegginsclubs</a:t>
            </a:r>
          </a:p>
          <a:p>
            <a:pPr lvl="1"/>
            <a:r>
              <a:rPr lang="nl-NL" dirty="0"/>
              <a:t>Werkend &amp; schaalbaar prototype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Toekomstvisie</a:t>
            </a:r>
            <a:endParaRPr lang="en-US" b="1" dirty="0"/>
          </a:p>
          <a:p>
            <a:pPr lvl="1"/>
            <a:r>
              <a:rPr lang="nl-NL" dirty="0"/>
              <a:t>Integratie van bijkomende grafieken &amp; visualisaties</a:t>
            </a:r>
          </a:p>
          <a:p>
            <a:pPr lvl="1"/>
            <a:r>
              <a:rPr lang="nl-NL" dirty="0"/>
              <a:t>Externe integraties met banken &amp; brokers</a:t>
            </a:r>
          </a:p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5">
      <a:dk1>
        <a:sysClr val="windowText" lastClr="000000"/>
      </a:dk1>
      <a:lt1>
        <a:sysClr val="window" lastClr="FFFFFF"/>
      </a:lt1>
      <a:dk2>
        <a:srgbClr val="335B74"/>
      </a:dk2>
      <a:lt2>
        <a:srgbClr val="BFBFBF"/>
      </a:lt2>
      <a:accent1>
        <a:srgbClr val="2563EB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442</TotalTime>
  <Words>218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InvestClub</vt:lpstr>
      <vt:lpstr>Externe partner</vt:lpstr>
      <vt:lpstr>Veelvoorkomend probleem</vt:lpstr>
      <vt:lpstr>Onze oplossing: InvestClub</vt:lpstr>
      <vt:lpstr>Waarom geen bestaande apps?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Sterktes &amp; zwaktes</vt:lpstr>
      <vt:lpstr>Conclusie &amp; toekomstvisie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Antoon Hendrickx</dc:creator>
  <cp:keywords/>
  <dc:description>generated using python-pptx</dc:description>
  <cp:lastModifiedBy>Antoon Hendrickx</cp:lastModifiedBy>
  <cp:revision>10</cp:revision>
  <dcterms:created xsi:type="dcterms:W3CDTF">2013-01-27T09:14:16Z</dcterms:created>
  <dcterms:modified xsi:type="dcterms:W3CDTF">2025-12-19T16:23:36Z</dcterms:modified>
  <cp:category/>
</cp:coreProperties>
</file>